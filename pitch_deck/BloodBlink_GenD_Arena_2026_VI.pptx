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dminmoh.moh.gov.vn/web/guest/hoat-dong-cua-lanh-dao-bo/-/asset_publisher/TW6LTp1ZtwaN/content/thu-truong-bo-y-te-tran-van-thuan-ong-chu-tri-hoi-nghi-lan-thu-30-ban-chi-ao-quoc-gia-van-ong-hien-mau-tinh-nguyen?inheritRedirect=false&amp;redirect=https%3A%2F%2Fadminmoh.moh.gov.vn%3A443%2Fweb%2Fguest%2Fhoat-dong-cua-lanh-dao-bo%3Fp_p_id%3D101_INSTANCE_TW6LTp1ZtwaN%26p_p_lifecycle%3D0%26p_p_state%3Dnormal%26p_p_mode%3Dview%26p_p_col_id%3Drow-0-column-2%26p_p_col_count%3D2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bpl.vn/boyte/Pages/vbpq-toanvan.aspx?ItemID=46980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502920"/>
            <a:ext cx="1097280" cy="1097280"/>
          </a:xfrm>
          <a:prstGeom prst="ellipse">
            <a:avLst/>
          </a:prstGeom>
          <a:solidFill>
            <a:srgbClr val="D94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1554480"/>
            <a:ext cx="731520" cy="731520"/>
          </a:xfrm>
          <a:prstGeom prst="ellipse">
            <a:avLst/>
          </a:prstGeom>
          <a:solidFill>
            <a:srgbClr val="18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2834640"/>
            <a:ext cx="502920" cy="502920"/>
          </a:xfrm>
          <a:prstGeom prst="ellipse">
            <a:avLst/>
          </a:prstGeom>
          <a:solidFill>
            <a:srgbClr val="397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3840480"/>
            <a:ext cx="1097280" cy="1097280"/>
          </a:xfrm>
          <a:prstGeom prst="ellipse">
            <a:avLst/>
          </a:prstGeom>
          <a:solidFill>
            <a:srgbClr val="D94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892040"/>
            <a:ext cx="384048" cy="384048"/>
          </a:xfrm>
          <a:prstGeom prst="ellipse">
            <a:avLst/>
          </a:prstGeom>
          <a:solidFill>
            <a:srgbClr val="D89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0" y="502920"/>
            <a:ext cx="310896" cy="310896"/>
          </a:xfrm>
          <a:prstGeom prst="ellipse">
            <a:avLst/>
          </a:prstGeom>
          <a:solidFill>
            <a:srgbClr val="18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738360" y="1371600"/>
            <a:ext cx="704088" cy="411480"/>
          </a:xfrm>
          <a:prstGeom prst="line">
            <a:avLst/>
          </a:prstGeom>
          <a:ln w="15240">
            <a:solidFill>
              <a:srgbClr val="536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823960" y="1627632"/>
            <a:ext cx="411480" cy="1252728"/>
          </a:xfrm>
          <a:prstGeom prst="line">
            <a:avLst/>
          </a:prstGeom>
          <a:ln w="15240">
            <a:solidFill>
              <a:srgbClr val="536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34272" y="3246120"/>
            <a:ext cx="1618488" cy="758952"/>
          </a:xfrm>
          <a:prstGeom prst="line">
            <a:avLst/>
          </a:prstGeom>
          <a:ln w="15240">
            <a:solidFill>
              <a:srgbClr val="536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27080" y="2286000"/>
            <a:ext cx="100584" cy="1572768"/>
          </a:xfrm>
          <a:prstGeom prst="line">
            <a:avLst/>
          </a:prstGeom>
          <a:ln w="15240">
            <a:solidFill>
              <a:srgbClr val="536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595360" y="3310128"/>
            <a:ext cx="155448" cy="1655064"/>
          </a:xfrm>
          <a:prstGeom prst="line">
            <a:avLst/>
          </a:prstGeom>
          <a:ln w="15240">
            <a:solidFill>
              <a:srgbClr val="536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759952" y="4937760"/>
            <a:ext cx="2157984" cy="146304"/>
          </a:xfrm>
          <a:prstGeom prst="line">
            <a:avLst/>
          </a:prstGeom>
          <a:ln w="15240">
            <a:solidFill>
              <a:srgbClr val="536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" y="566928"/>
            <a:ext cx="3246120" cy="274320"/>
          </a:xfrm>
          <a:prstGeom prst="roundRect">
            <a:avLst/>
          </a:prstGeom>
          <a:solidFill>
            <a:srgbClr val="26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598932"/>
            <a:ext cx="309981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4E0EC"/>
                </a:solidFill>
                <a:latin typeface="Aptos"/>
              </a:rPr>
              <a:t>GEN D ARENA 2026  •  Y TẾ &amp; SỨC KHỎE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117957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FD4CD"/>
                </a:solidFill>
                <a:latin typeface="Aptos"/>
              </a:rPr>
              <a:t>01  •  TỔNG QUAN DỰ 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81328"/>
            <a:ext cx="70408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 Display"/>
              </a:rPr>
              <a:t>BLOODBLINK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395728"/>
            <a:ext cx="6995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AF0F6"/>
                </a:solidFill>
                <a:latin typeface="Aptos Display"/>
              </a:rPr>
              <a:t>Điều phối máu liên viện
từ kho đến người hiến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005072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8C7D8"/>
                </a:solidFill>
                <a:latin typeface="Aptos"/>
              </a:rPr>
              <a:t>NỀN TẢNG B2B2C  •  BLOOD BANK / HOSPITAL OPS  •  COLD-CHAIN IoT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4088" y="4681728"/>
            <a:ext cx="5559552" cy="0"/>
          </a:xfrm>
          <a:prstGeom prst="line">
            <a:avLst/>
          </a:prstGeom>
          <a:ln w="12700">
            <a:solidFill>
              <a:srgbClr val="41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4937760"/>
            <a:ext cx="5806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ED"/>
                </a:solidFill>
                <a:latin typeface="Aptos"/>
              </a:rPr>
              <a:t>Một luồng điều phối: tìm kho tương hợp trước,
chỉ huy động người hiến cho phần còn thiếu.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98932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1A3B8"/>
                </a:solidFill>
                <a:latin typeface="Aptos"/>
              </a:rPr>
              <a:t>Prototype gồm web console, backend, donor app và cảm biến chuỗi lạnh.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3072" y="6510528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1A3B8"/>
                </a:solidFill>
                <a:latin typeface="Aptos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74320"/>
            <a:ext cx="1395374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24907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02  •  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235"/>
                </a:solidFill>
                <a:latin typeface="Aptos Display"/>
              </a:rPr>
              <a:t>Nguồn cung lớn; điều phối vẫn là bài toán của cả mạng lưới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D"/>
                </a:solidFill>
                <a:latin typeface="Aptos"/>
              </a:rPr>
              <a:t>Giả thuyết cần kiểm chứng: tồn kho và nhu cầu chưa đủ dễ nhìn xuyên qua các cơ sở.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BLOODBLINK  •  GenD Arena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02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64208"/>
            <a:ext cx="2788920" cy="2121408"/>
          </a:xfrm>
          <a:prstGeom prst="roundRect">
            <a:avLst/>
          </a:prstGeom>
          <a:solidFill>
            <a:srgbClr val="101C2D"/>
          </a:solidFill>
          <a:ln w="10160">
            <a:solidFill>
              <a:srgbClr val="10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56816"/>
            <a:ext cx="2240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 Display"/>
              </a:rPr>
              <a:t>1,75M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51760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8EEF5"/>
                </a:solidFill>
                <a:latin typeface="Aptos"/>
              </a:rPr>
              <a:t>đơn vị máu tiếp nhận
trên toàn quốc năm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337560"/>
            <a:ext cx="2286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AFC0D2"/>
                </a:solidFill>
                <a:latin typeface="Aptos"/>
              </a:rPr>
              <a:t>94% kế hoạch năm  •  [nguồn Bộ Y tế]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9312" y="1664208"/>
            <a:ext cx="2432304" cy="2121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182880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4B56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2139696"/>
            <a:ext cx="20939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235"/>
                </a:solidFill>
                <a:latin typeface="Aptos"/>
              </a:rPr>
              <a:t>TỒN KHO PHÂN TÁN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2651760"/>
            <a:ext cx="209397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B7D"/>
                </a:solidFill>
                <a:latin typeface="Aptos"/>
              </a:rPr>
              <a:t>Cơ sở thiếu khó thấy sớm nguồn tương hợp đang có ở nơi khác.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664208"/>
            <a:ext cx="2432304" cy="2121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4B56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39696"/>
            <a:ext cx="20939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235"/>
                </a:solidFill>
                <a:latin typeface="Aptos"/>
              </a:rPr>
              <a:t>ĐIỀU PHỐI RỜI RẠC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51760"/>
            <a:ext cx="209397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B7D"/>
                </a:solidFill>
                <a:latin typeface="Aptos"/>
              </a:rPr>
              <a:t>Nhóm máu, chế phẩm, hạn dùng và ETA cần được kiểm tra cùng lúc.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1664208"/>
            <a:ext cx="2432304" cy="2121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182880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4B56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139696"/>
            <a:ext cx="20939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235"/>
                </a:solidFill>
                <a:latin typeface="Aptos"/>
              </a:rPr>
              <a:t>HUY ĐỘNG CHƯA THEO PHẦN THIẾU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651760"/>
            <a:ext cx="209397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B7D"/>
                </a:solidFill>
                <a:latin typeface="Aptos"/>
              </a:rPr>
              <a:t>SOS có nguy cơ gọi rộng nếu chưa trừ lượng kho đã điều chuyển.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4059936"/>
            <a:ext cx="10917936" cy="640080"/>
          </a:xfrm>
          <a:prstGeom prst="roundRect">
            <a:avLst/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270248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89E2A"/>
                </a:solidFill>
                <a:latin typeface="Aptos"/>
              </a:rPr>
              <a:t>ĐIỂM CẦN XÁC NHẬN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4206240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235"/>
                </a:solidFill>
                <a:latin typeface="Aptos"/>
              </a:rPr>
              <a:t>Độ trễ có đến từ phối hợp giữa các cơ sở hay không? Phỏng vấn và pilot sẽ đo trước khi kết luận.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4837176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979B8"/>
                </a:solidFill>
                <a:latin typeface="Aptos"/>
                <a:hlinkClick r:id="rId2"/>
              </a:rPr>
              <a:t>Số liệu 2025: Bộ Y tế, báo cáo Ban Chỉ đạo Quốc gia vận động hiến máu. Mở nguồn 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74320"/>
            <a:ext cx="1565452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4191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03  •  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235"/>
                </a:solidFill>
                <a:latin typeface="Aptos Display"/>
              </a:rPr>
              <a:t>Tìm kho trước. Gọi người hiến cho phần thiếu còn lại.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D"/>
                </a:solidFill>
                <a:latin typeface="Aptos"/>
              </a:rPr>
              <a:t>BLOODBLINK gom nhu cầu, tương hợp, offer điều chuyển, ETA và SOS vào cùng một ca.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BLOODBLINK  •  GenD Arena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03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920240"/>
            <a:ext cx="2523744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2148840"/>
            <a:ext cx="438912" cy="438912"/>
          </a:xfrm>
          <a:prstGeom prst="ellipse">
            <a:avLst/>
          </a:prstGeom>
          <a:solidFill>
            <a:srgbClr val="1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26771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743200"/>
            <a:ext cx="21579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42235"/>
                </a:solidFill>
                <a:latin typeface="Aptos"/>
              </a:rPr>
              <a:t>NHẬP NHU CẦU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236976"/>
            <a:ext cx="213969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B7D"/>
                </a:solidFill>
                <a:latin typeface="Aptos"/>
              </a:rPr>
              <a:t>Cơ sở nhận • ABO/RhD • chế phẩm • số lượng • hạn cần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63824" y="3054096"/>
            <a:ext cx="182880" cy="0"/>
          </a:xfrm>
          <a:prstGeom prst="line">
            <a:avLst/>
          </a:prstGeom>
          <a:ln w="19050">
            <a:solidFill>
              <a:srgbClr val="D9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55264" y="2990088"/>
            <a:ext cx="91440" cy="64008"/>
          </a:xfrm>
          <a:prstGeom prst="line">
            <a:avLst/>
          </a:prstGeom>
          <a:ln w="19050">
            <a:solidFill>
              <a:srgbClr val="D9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255264" y="3054096"/>
            <a:ext cx="91440" cy="64007"/>
          </a:xfrm>
          <a:prstGeom prst="line">
            <a:avLst/>
          </a:prstGeom>
          <a:ln w="19050">
            <a:solidFill>
              <a:srgbClr val="D9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92424" y="1920240"/>
            <a:ext cx="2523744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5304" y="2148840"/>
            <a:ext cx="438912" cy="438912"/>
          </a:xfrm>
          <a:prstGeom prst="ellipse">
            <a:avLst/>
          </a:prstGeom>
          <a:solidFill>
            <a:srgbClr val="1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5304" y="226771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743200"/>
            <a:ext cx="21579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42235"/>
                </a:solidFill>
                <a:latin typeface="Aptos"/>
              </a:rPr>
              <a:t>GHÉP KHO LIÊN VIỆN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236976"/>
            <a:ext cx="213969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B7D"/>
                </a:solidFill>
                <a:latin typeface="Aptos"/>
              </a:rPr>
              <a:t>Lọc tương hợp; xếp theo FEFO, ETA và rủi ro khan hiếm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2744" y="3054096"/>
            <a:ext cx="182880" cy="0"/>
          </a:xfrm>
          <a:prstGeom prst="line">
            <a:avLst/>
          </a:prstGeom>
          <a:ln w="19050">
            <a:solidFill>
              <a:srgbClr val="D9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44184" y="2990088"/>
            <a:ext cx="91440" cy="64008"/>
          </a:xfrm>
          <a:prstGeom prst="line">
            <a:avLst/>
          </a:prstGeom>
          <a:ln w="19050">
            <a:solidFill>
              <a:srgbClr val="D9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044184" y="3054096"/>
            <a:ext cx="91440" cy="64007"/>
          </a:xfrm>
          <a:prstGeom prst="line">
            <a:avLst/>
          </a:prstGeom>
          <a:ln w="19050">
            <a:solidFill>
              <a:srgbClr val="D9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81344" y="1920240"/>
            <a:ext cx="2523744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2148840"/>
            <a:ext cx="438912" cy="438912"/>
          </a:xfrm>
          <a:prstGeom prst="ellipse">
            <a:avLst/>
          </a:prstGeom>
          <a:solidFill>
            <a:srgbClr val="1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226771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743200"/>
            <a:ext cx="21579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42235"/>
                </a:solidFill>
                <a:latin typeface="Aptos"/>
              </a:rPr>
              <a:t>GỬI OFFER CÓ HẠN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236976"/>
            <a:ext cx="213969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B7D"/>
                </a:solidFill>
                <a:latin typeface="Aptos"/>
              </a:rPr>
              <a:t>Cơ sở nguồn chấp nhận / từ chối; lượng nhận được giữ kho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41663" y="3054096"/>
            <a:ext cx="182881" cy="0"/>
          </a:xfrm>
          <a:prstGeom prst="line">
            <a:avLst/>
          </a:prstGeom>
          <a:ln w="19050">
            <a:solidFill>
              <a:srgbClr val="D9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33104" y="2990088"/>
            <a:ext cx="91440" cy="64008"/>
          </a:xfrm>
          <a:prstGeom prst="line">
            <a:avLst/>
          </a:prstGeom>
          <a:ln w="19050">
            <a:solidFill>
              <a:srgbClr val="D9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833104" y="3054096"/>
            <a:ext cx="91440" cy="64007"/>
          </a:xfrm>
          <a:prstGeom prst="line">
            <a:avLst/>
          </a:prstGeom>
          <a:ln w="19050">
            <a:solidFill>
              <a:srgbClr val="D9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970263" y="1920240"/>
            <a:ext cx="2523744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53143" y="2148840"/>
            <a:ext cx="438912" cy="438912"/>
          </a:xfrm>
          <a:prstGeom prst="ellipse">
            <a:avLst/>
          </a:prstGeom>
          <a:solidFill>
            <a:srgbClr val="D94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3143" y="226771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3143" y="2743200"/>
            <a:ext cx="21579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42235"/>
                </a:solidFill>
                <a:latin typeface="Aptos"/>
              </a:rPr>
              <a:t>SOS ĐÚNG PHẦN THIẾU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3" y="3236976"/>
            <a:ext cx="213969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B7D"/>
                </a:solidFill>
                <a:latin typeface="Aptos"/>
              </a:rPr>
              <a:t>Offer hết hạn hoặc kho thiếu thì mở vòng gọi theo lượng còn lại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4517136"/>
            <a:ext cx="10927080" cy="566928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700016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979B8"/>
                </a:solidFill>
                <a:latin typeface="Aptos"/>
              </a:rPr>
              <a:t>NGUYÊN TẮC AN TOÀN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2032" y="4626864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42235"/>
                </a:solidFill>
                <a:latin typeface="Aptos"/>
              </a:rPr>
              <a:t>Phần mềm hỗ trợ điều phối; cơ sở y tế quyết định tương hợp cuối, xác minh và phát hành đơn vị máu.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74320"/>
            <a:ext cx="2132380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9860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04  •  KHÁCH HÀNG 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235"/>
                </a:solidFill>
                <a:latin typeface="Aptos Display"/>
              </a:rPr>
              <a:t>Bắt đầu ở cụm bệnh viện có nhu cầu điều phối chung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D"/>
                </a:solidFill>
                <a:latin typeface="Aptos"/>
              </a:rPr>
              <a:t>Khách hàng đầu tiên là tổ chức y tế; người hiến là người tham gia mạng lưới, không phải bên trả phí.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BLOODBLINK  •  GenD Arena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04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28800"/>
            <a:ext cx="3456432" cy="1700784"/>
          </a:xfrm>
          <a:prstGeom prst="roundRect">
            <a:avLst/>
          </a:prstGeom>
          <a:solidFill>
            <a:srgbClr val="EAF2FA"/>
          </a:solidFill>
          <a:ln w="10160">
            <a:solidFill>
              <a:srgbClr val="EA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20824"/>
            <a:ext cx="3054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BÊN MUA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22576"/>
            <a:ext cx="3035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235"/>
                </a:solidFill>
                <a:latin typeface="Aptos"/>
              </a:rPr>
              <a:t>Mạng lưới bệnh viện
Trung tâm / ngân hàng máu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62072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B6B7D"/>
                </a:solidFill>
                <a:latin typeface="Aptos"/>
              </a:rPr>
              <a:t>Quản lý cần nhìn được tồn kho và năng lực điều phối nhiều cơ sở.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56432" cy="1700784"/>
          </a:xfrm>
          <a:prstGeom prst="roundRect">
            <a:avLst/>
          </a:prstGeom>
          <a:solidFill>
            <a:srgbClr val="FBE9EA"/>
          </a:solidFill>
          <a:ln w="10160">
            <a:solidFill>
              <a:srgbClr val="FBE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020824"/>
            <a:ext cx="3054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94B56"/>
                </a:solidFill>
                <a:latin typeface="Aptos"/>
              </a:rPr>
              <a:t>NGƯỜI DÙNG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22576"/>
            <a:ext cx="3035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235"/>
                </a:solidFill>
                <a:latin typeface="Aptos"/>
              </a:rPr>
              <a:t>Điều phối truyền máu
Nhân viên kho / vận chuyển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862072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B6B7D"/>
                </a:solidFill>
                <a:latin typeface="Aptos"/>
              </a:rPr>
              <a:t>Cần ghép tương hợp, hạn dùng, ETA và phản hồi offer trong một 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456432" cy="1700784"/>
          </a:xfrm>
          <a:prstGeom prst="roundRect">
            <a:avLst/>
          </a:prstGeom>
          <a:solidFill>
            <a:srgbClr val="E3F5F2"/>
          </a:solidFill>
          <a:ln w="10160">
            <a:solidFill>
              <a:srgbClr val="E3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020824"/>
            <a:ext cx="3054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88F86"/>
                </a:solidFill>
                <a:latin typeface="Aptos"/>
              </a:rPr>
              <a:t>NGƯỜI HƯỞNG LỢI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322576"/>
            <a:ext cx="3035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235"/>
                </a:solidFill>
                <a:latin typeface="Aptos"/>
              </a:rPr>
              <a:t>Người bệnh
Người hiến máu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862072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5B6B7D"/>
                </a:solidFill>
                <a:latin typeface="Aptos"/>
              </a:rPr>
              <a:t>Quy trình rõ hơn; lời mời có mục tiêu và bảo vệ quyền riêng tư.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3904488"/>
            <a:ext cx="31546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KHÁCH HÀNG MỤC TIÊU ĐẦU TIÊN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42816"/>
            <a:ext cx="656539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34840"/>
            <a:ext cx="61447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235"/>
                </a:solidFill>
                <a:latin typeface="Aptos"/>
              </a:rPr>
              <a:t>Cụm bệnh viện đô thị có khoa truyền máu / kho máu và đầu mối điều phối.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43216" y="4242816"/>
            <a:ext cx="4069080" cy="960120"/>
          </a:xfrm>
          <a:prstGeom prst="roundRect">
            <a:avLst/>
          </a:prstGeom>
          <a:solidFill>
            <a:srgbClr val="FFF4D8"/>
          </a:solidFill>
          <a:ln w="10160">
            <a:solidFill>
              <a:srgbClr val="FFF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4425696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89E2A"/>
                </a:solidFill>
                <a:latin typeface="Aptos"/>
              </a:rPr>
              <a:t>Giả thuyết pilot: 3 cơ sở neo tại TP.HCM → mở rộng tối đa 8 cơ sở.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74320"/>
            <a:ext cx="1905609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75930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05  •  MVP /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235"/>
                </a:solidFill>
                <a:latin typeface="Aptos Display"/>
              </a:rPr>
              <a:t>MVP có đủ bốn mô-đun để diễn tập một luồng điều phối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D"/>
                </a:solidFill>
                <a:latin typeface="Aptos"/>
              </a:rPr>
              <a:t>MVP là prototype trong repository — chưa phải hệ thống đã được bệnh viện xác nhận trong vận hành thật.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BLOODBLINK  •  GenD Arena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05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55648"/>
            <a:ext cx="53035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55648"/>
            <a:ext cx="73152" cy="896112"/>
          </a:xfrm>
          <a:prstGeom prst="rect">
            <a:avLst/>
          </a:prstGeom>
          <a:solidFill>
            <a:srgbClr val="397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20240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979B8"/>
                </a:solidFill>
                <a:latin typeface="Aptos"/>
              </a:rPr>
              <a:t>BB-CONSOLE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1901952"/>
            <a:ext cx="35478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42235"/>
                </a:solidFill>
                <a:latin typeface="Aptos"/>
              </a:rPr>
              <a:t>Bản đồ kho, ca SOS, đề nghị điều chuyển, phản hồi offer và tuyến ETA.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55648"/>
            <a:ext cx="53035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55648"/>
            <a:ext cx="73152" cy="896112"/>
          </a:xfrm>
          <a:prstGeom prst="rect">
            <a:avLst/>
          </a:prstGeom>
          <a:solidFill>
            <a:srgbClr val="D94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920240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4B56"/>
                </a:solidFill>
                <a:latin typeface="Aptos"/>
              </a:rPr>
              <a:t>BB-CORE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3" y="1901952"/>
            <a:ext cx="35478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42235"/>
                </a:solidFill>
                <a:latin typeface="Aptos"/>
              </a:rPr>
              <a:t>API, ABO/RhD, FEFO, offer có hạn, lịch SOS, phân quyền và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34640"/>
            <a:ext cx="53035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834640"/>
            <a:ext cx="73152" cy="896112"/>
          </a:xfrm>
          <a:prstGeom prst="rect">
            <a:avLst/>
          </a:prstGeom>
          <a:solidFill>
            <a:srgbClr val="18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999232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88F86"/>
                </a:solidFill>
                <a:latin typeface="Aptos"/>
              </a:rPr>
              <a:t>BB-SOS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2980944"/>
            <a:ext cx="35478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42235"/>
                </a:solidFill>
                <a:latin typeface="Aptos"/>
              </a:rPr>
              <a:t>Hồ sơ người hiến, hộp thư SOS, nhận / từ chối lời mời, cơ sở gần nhất.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34640"/>
            <a:ext cx="53035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834640"/>
            <a:ext cx="73152" cy="896112"/>
          </a:xfrm>
          <a:prstGeom prst="rect">
            <a:avLst/>
          </a:prstGeom>
          <a:solidFill>
            <a:srgbClr val="D89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999232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89E2A"/>
                </a:solidFill>
                <a:latin typeface="Aptos"/>
              </a:rPr>
              <a:t>BB-BOX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3" y="2980944"/>
            <a:ext cx="35478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42235"/>
                </a:solidFill>
                <a:latin typeface="Aptos"/>
              </a:rPr>
              <a:t>Firmware ESP32-S3 đọc cảm biến; ngưỡng bảo quản và vận chuyển tách riêng.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78224"/>
            <a:ext cx="10890504" cy="969264"/>
          </a:xfrm>
          <a:prstGeom prst="round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2793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8C8D8"/>
                </a:solidFill>
                <a:latin typeface="Aptos"/>
              </a:rPr>
              <a:t>ĐÃ CÓ TRONG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562856"/>
            <a:ext cx="4901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Web map • backend • mobile flows • sensor firmware • simulation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427939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C8CA"/>
                </a:solidFill>
                <a:latin typeface="Aptos"/>
              </a:rPr>
              <a:t>CÒN PHẢI KIỂM CHỨNG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4562856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FFFFFF"/>
                </a:solidFill>
                <a:latin typeface="Aptos"/>
              </a:rPr>
              <a:t>HIS/LIS integration • FCM • sensor calibration • clinical workflow • real 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52578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B6B7D"/>
                </a:solidFill>
                <a:latin typeface="Aptos"/>
              </a:rPr>
              <a:t>README repo báo cáo 310 test pass; đây không phải xác nhận lâm sàng hay nghiệm thu triển khai.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74320"/>
            <a:ext cx="1565452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4191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06  •  CÔNG NGHỆ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235"/>
                </a:solidFill>
                <a:latin typeface="Aptos Display"/>
              </a:rPr>
              <a:t>Công nghệ được gắn với từng bước — không dùng AI để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D"/>
                </a:solidFill>
                <a:latin typeface="Aptos"/>
              </a:rPr>
              <a:t>Trọng tâm: ghép đúng, điều phối có thời hạn, giữ riêng tư và giám sát chuỗi lạnh.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BLOODBLINK  •  GenD Arena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06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19072"/>
            <a:ext cx="1965960" cy="365760"/>
          </a:xfrm>
          <a:prstGeom prst="round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01368"/>
            <a:ext cx="18196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CÔNG NGHỆ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9776" y="1719072"/>
            <a:ext cx="2331720" cy="365760"/>
          </a:xfrm>
          <a:prstGeom prst="round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801368"/>
            <a:ext cx="218541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ÁP DỤNG Ở ĐÂU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719072"/>
            <a:ext cx="3154680" cy="365760"/>
          </a:xfrm>
          <a:prstGeom prst="round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1801368"/>
            <a:ext cx="3008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GIẢI QUYẾT / TẠO KHÁC BIỆT GÌ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7072" y="1719072"/>
            <a:ext cx="2761488" cy="365760"/>
          </a:xfrm>
          <a:prstGeom prst="round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0224" y="1801368"/>
            <a:ext cx="2615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ĐỘ TRƯỞNG THÀNH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2185416"/>
            <a:ext cx="10680192" cy="5394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286000"/>
            <a:ext cx="186537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3979B8"/>
                </a:solidFill>
                <a:latin typeface="Aptos"/>
              </a:rPr>
              <a:t>React + TypeScript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6" y="2286000"/>
            <a:ext cx="21396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42235"/>
                </a:solidFill>
                <a:latin typeface="Aptos"/>
              </a:rPr>
              <a:t>BB-Console web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2276856"/>
            <a:ext cx="29992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Một màn hình cho kho, ca, offer, ETA.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2276856"/>
            <a:ext cx="24871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B6B7D"/>
                </a:solidFill>
                <a:latin typeface="Aptos"/>
              </a:rPr>
              <a:t>Prototype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2916936"/>
            <a:ext cx="186537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D94B56"/>
                </a:solidFill>
                <a:latin typeface="Aptos"/>
              </a:rPr>
              <a:t>FastAPI + PostgreSQL/PostGIS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71216" y="2916936"/>
            <a:ext cx="21396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42235"/>
                </a:solidFill>
                <a:latin typeface="Aptos"/>
              </a:rPr>
              <a:t>BB-Core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2907792"/>
            <a:ext cx="29992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Dữ liệu nhiều cơ sở, phân quyền và workflow có audit.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2907792"/>
            <a:ext cx="24871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B6B7D"/>
                </a:solidFill>
                <a:latin typeface="Aptos"/>
              </a:rPr>
              <a:t>Prototype backend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" y="3447288"/>
            <a:ext cx="10680192" cy="5394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3547872"/>
            <a:ext cx="186537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88F86"/>
                </a:solidFill>
                <a:latin typeface="Aptos"/>
              </a:rPr>
              <a:t>Rule engine ABO/RhD + FEFO + 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71216" y="3547872"/>
            <a:ext cx="21396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42235"/>
                </a:solidFill>
                <a:latin typeface="Aptos"/>
              </a:rPr>
              <a:t>Trước khi gửi offer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3538728"/>
            <a:ext cx="29992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Xếp hạng tương hợp, hạn dùng, ETA và rủi ro O−.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512" y="3538728"/>
            <a:ext cx="24871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B6B7D"/>
                </a:solidFill>
                <a:latin typeface="Aptos"/>
              </a:rPr>
              <a:t>Logic xác định; cần chuyên gia duyệt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178808"/>
            <a:ext cx="186537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D89E2A"/>
                </a:solidFill>
                <a:latin typeface="Aptos"/>
              </a:rPr>
              <a:t>Flutter + H3 + ESP32-S3 / TMP117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71216" y="4178808"/>
            <a:ext cx="21396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42235"/>
                </a:solidFill>
                <a:latin typeface="Aptos"/>
              </a:rPr>
              <a:t>BB-SOS + BB-Box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4" y="4169663"/>
            <a:ext cx="29992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Ứng dụng người hiến; vị trí dạng ô; hai chế độ ngưỡng nhiệt.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4169663"/>
            <a:ext cx="24871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5B6B7D"/>
                </a:solidFill>
                <a:latin typeface="Aptos"/>
              </a:rPr>
              <a:t>Prototype; tích hợp/hiệu chuẩn còn mở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" y="4855464"/>
            <a:ext cx="10652760" cy="530352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029200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979B8"/>
                </a:solidFill>
                <a:latin typeface="Aptos"/>
              </a:rPr>
              <a:t>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312" y="496519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235"/>
                </a:solidFill>
                <a:latin typeface="Aptos"/>
              </a:rPr>
              <a:t>Không dùng AI/ML trong ghép nguồn hay xác định đủ điều kiện; quyết định dùng quy tắc minh bạch ở backend.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5486400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979B8"/>
                </a:solidFill>
                <a:latin typeface="Aptos"/>
                <a:hlinkClick r:id="rId2"/>
              </a:rPr>
              <a:t>Thông tư 26/2013/TT-BYT — nguồn đối chiếu quy trình truyền máu. Mở CSDL VBPL 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74320"/>
            <a:ext cx="2286000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213969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07  •  ĐỐI THỦ &amp; LỢI THẾ CẠNH TRANH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235"/>
                </a:solidFill>
                <a:latin typeface="Aptos Display"/>
              </a:rPr>
              <a:t>Lợi thế là khép vòng phối hợp, không phải một thuật toán đơn lẻ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D"/>
                </a:solidFill>
                <a:latin typeface="Aptos"/>
              </a:rPr>
              <a:t>So sánh theo nhóm giải pháp thay thế; cần phỏng vấn người mua và khảo sát vendor trước khi kết luận thị trường.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BLOODBLINK  •  GenD Arena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07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1993392" cy="521207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65376"/>
            <a:ext cx="18836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B6B7D"/>
                </a:solidFill>
                <a:latin typeface="Aptos"/>
              </a:rPr>
              <a:t>BƯỚC QUY TRÌNH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1755648"/>
            <a:ext cx="1965960" cy="521207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865376"/>
            <a:ext cx="1856231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B6B7D"/>
                </a:solidFill>
                <a:latin typeface="Aptos"/>
              </a:rPr>
              <a:t>GỌI / NHÓM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0912" y="1755648"/>
            <a:ext cx="1947672" cy="521207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5776" y="1865376"/>
            <a:ext cx="1837943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B6B7D"/>
                </a:solidFill>
                <a:latin typeface="Aptos"/>
              </a:rPr>
              <a:t>HỆ THỐNG TẠI CHỖ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41464" y="1755648"/>
            <a:ext cx="1993392" cy="521207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6327" y="1865376"/>
            <a:ext cx="18836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5B6B7D"/>
                </a:solidFill>
                <a:latin typeface="Aptos"/>
              </a:rPr>
              <a:t>APP NGƯỜI HIẾN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755648"/>
            <a:ext cx="2039112" cy="521207"/>
          </a:xfrm>
          <a:prstGeom prst="round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1865376"/>
            <a:ext cx="192938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ptos"/>
              </a:rPr>
              <a:t>BLOODBLINK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359152"/>
            <a:ext cx="10689336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468880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42235"/>
                </a:solidFill>
                <a:latin typeface="Aptos"/>
              </a:rPr>
              <a:t>Nhìn tồn kho xuyên cơ sở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936" y="2468880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Thủ công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2468880"/>
            <a:ext cx="18379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Thường cục bộ*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7" y="2468880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468880"/>
            <a:ext cx="1929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88F86"/>
                </a:solidFill>
                <a:latin typeface="Aptos"/>
              </a:rPr>
              <a:t>Có luồng liên viện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2953512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42235"/>
                </a:solidFill>
                <a:latin typeface="Aptos"/>
              </a:rPr>
              <a:t>Ghép ABO/RhD + FEFO + 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16936" y="2953512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Rời rạc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5776" y="2953512"/>
            <a:ext cx="18379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Có thể nội bộ*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7" y="2953512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2953512"/>
            <a:ext cx="1929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88F86"/>
                </a:solidFill>
                <a:latin typeface="Aptos"/>
              </a:rPr>
              <a:t>Một bộ xếp hạng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328416"/>
            <a:ext cx="10689336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438144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42235"/>
                </a:solidFill>
                <a:latin typeface="Aptos"/>
              </a:rPr>
              <a:t>Offer có thời hạn + giữ kho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16936" y="3438144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Gọi riêng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65776" y="3438144"/>
            <a:ext cx="18379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327" y="3438144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3438144"/>
            <a:ext cx="1929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88F86"/>
                </a:solidFill>
                <a:latin typeface="Aptos"/>
              </a:rPr>
              <a:t>Có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3922776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42235"/>
                </a:solidFill>
                <a:latin typeface="Aptos"/>
              </a:rPr>
              <a:t>SOS sau khi trừ lượng kho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16936" y="3922776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Có thể gọi rộng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65776" y="3922776"/>
            <a:ext cx="18379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6327" y="3922776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Có thể gọi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1744" y="3922776"/>
            <a:ext cx="1929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88F86"/>
                </a:solidFill>
                <a:latin typeface="Aptos"/>
              </a:rPr>
              <a:t>Chỉ phần thiếu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297680"/>
            <a:ext cx="10689336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4407408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42235"/>
                </a:solidFill>
                <a:latin typeface="Aptos"/>
              </a:rPr>
              <a:t>Tín hiệu chuỗi lạnh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16936" y="4407408"/>
            <a:ext cx="1856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Tách biệt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65776" y="4407408"/>
            <a:ext cx="18379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Có thể có*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96327" y="4407408"/>
            <a:ext cx="18836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B6B7D"/>
                </a:solidFill>
                <a:latin typeface="Aptos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81744" y="4407408"/>
            <a:ext cx="1929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88F86"/>
                </a:solidFill>
                <a:latin typeface="Aptos"/>
              </a:rPr>
              <a:t>BB-Box module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4944" y="4919472"/>
            <a:ext cx="10680192" cy="438912"/>
          </a:xfrm>
          <a:prstGeom prst="roundRect">
            <a:avLst/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" y="5056632"/>
            <a:ext cx="15087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D89E2A"/>
                </a:solidFill>
                <a:latin typeface="Aptos"/>
              </a:rPr>
              <a:t>ĐIỂM KHÁC BIỆT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87168" y="5001768"/>
            <a:ext cx="8549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235"/>
                </a:solidFill>
                <a:latin typeface="Aptos"/>
              </a:rPr>
              <a:t>Kho trước → offer liên viện → SOS phần thiếu → audit / cold-chain trong cùng ca.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" y="5440680"/>
            <a:ext cx="10241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1">
                <a:solidFill>
                  <a:srgbClr val="5B6B7D"/>
                </a:solidFill>
                <a:latin typeface="Aptos"/>
              </a:rPr>
              <a:t>*Phạm vi thay đổi theo cơ sở; chưa phải so sánh sản phẩm cụ thể.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74320"/>
            <a:ext cx="2245766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209946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08  •  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235"/>
                </a:solidFill>
                <a:latin typeface="Aptos Display"/>
              </a:rPr>
              <a:t>BMC: giá trị cho mạng lưới y tế, doanh thu từ tổ chức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D"/>
                </a:solidFill>
                <a:latin typeface="Aptos"/>
              </a:rPr>
              <a:t>Bản mô hình ban đầu để kiểm chứng qua pilot; chưa có khách hàng trả phí hoặc hợp đồng trong repository.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BLOODBLINK  •  GenD Arena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08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474720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64008" cy="969264"/>
          </a:xfrm>
          <a:prstGeom prst="rect">
            <a:avLst/>
          </a:prstGeom>
          <a:solidFill>
            <a:srgbClr val="397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19656"/>
            <a:ext cx="3108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979B8"/>
                </a:solidFill>
                <a:latin typeface="Aptos"/>
              </a:rPr>
              <a:t>ĐỐI TÁC CHÍNH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066544"/>
            <a:ext cx="30906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42235"/>
                </a:solidFill>
                <a:latin typeface="Aptos"/>
              </a:rPr>
              <a:t>Bệnh viện / trung tâm máu
Cố vấn truyền máu
Đối tác thiết bị &amp; tích hợp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91640"/>
            <a:ext cx="3474720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91640"/>
            <a:ext cx="64008" cy="969264"/>
          </a:xfrm>
          <a:prstGeom prst="rect">
            <a:avLst/>
          </a:prstGeom>
          <a:solidFill>
            <a:srgbClr val="D94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19656"/>
            <a:ext cx="3108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D94B56"/>
                </a:solidFill>
                <a:latin typeface="Aptos"/>
              </a:rPr>
              <a:t>HOẠT ĐỘNG CHÍNH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66544"/>
            <a:ext cx="30906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42235"/>
                </a:solidFill>
                <a:latin typeface="Aptos"/>
              </a:rPr>
              <a:t>Ghép kho, ETA, offer
Vận hành SOS
Tích hợp, bảo mật, hỗ trợ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691640"/>
            <a:ext cx="3474720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1691640"/>
            <a:ext cx="64008" cy="969264"/>
          </a:xfrm>
          <a:prstGeom prst="rect">
            <a:avLst/>
          </a:prstGeom>
          <a:solidFill>
            <a:srgbClr val="18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1819656"/>
            <a:ext cx="3108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88F86"/>
                </a:solidFill>
                <a:latin typeface="Aptos"/>
              </a:rPr>
              <a:t>GIÁ TRỊ CỐT LÕI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2066544"/>
            <a:ext cx="30906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42235"/>
                </a:solidFill>
                <a:latin typeface="Aptos"/>
              </a:rPr>
              <a:t>Tìm kho trước, gọi sau
Một luồng có truy vết
Ẩn danh vị trí người hiến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25496"/>
            <a:ext cx="3474720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2825496"/>
            <a:ext cx="64008" cy="969264"/>
          </a:xfrm>
          <a:prstGeom prst="rect">
            <a:avLst/>
          </a:prstGeom>
          <a:solidFill>
            <a:srgbClr val="D89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2953512"/>
            <a:ext cx="3108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D89E2A"/>
                </a:solidFill>
                <a:latin typeface="Aptos"/>
              </a:rPr>
              <a:t>QUAN HỆ KHÁCH HÀNG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200400"/>
            <a:ext cx="30906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42235"/>
                </a:solidFill>
                <a:latin typeface="Aptos"/>
              </a:rPr>
              <a:t>Onboarding theo cơ sở
Đào tạo điều phối
Hỗ trợ &amp; SLA theo hợp đồng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825496"/>
            <a:ext cx="3474720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2825496"/>
            <a:ext cx="64008" cy="969264"/>
          </a:xfrm>
          <a:prstGeom prst="rect">
            <a:avLst/>
          </a:prstGeom>
          <a:solidFill>
            <a:srgbClr val="397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953512"/>
            <a:ext cx="3108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979B8"/>
                </a:solidFill>
                <a:latin typeface="Aptos"/>
              </a:rPr>
              <a:t>PHÂN KHÚC KHÁCH HÀNG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00400"/>
            <a:ext cx="30906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42235"/>
                </a:solidFill>
                <a:latin typeface="Aptos"/>
              </a:rPr>
              <a:t>Mạng lưới bệnh viện
Trung tâm / ngân hàng máu
Bên mua: tổ chức y tế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59" y="2825496"/>
            <a:ext cx="3474720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59" y="2825496"/>
            <a:ext cx="64008" cy="969264"/>
          </a:xfrm>
          <a:prstGeom prst="rect">
            <a:avLst/>
          </a:prstGeom>
          <a:solidFill>
            <a:srgbClr val="D94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39" y="2953512"/>
            <a:ext cx="3108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D94B56"/>
                </a:solidFill>
                <a:latin typeface="Aptos"/>
              </a:rPr>
              <a:t>TÀI NGUYÊN CHÍNH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3200400"/>
            <a:ext cx="30906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42235"/>
                </a:solidFill>
                <a:latin typeface="Aptos"/>
              </a:rPr>
              <a:t>BB-Core + BB-Console
BB-SOS + BB-Box
Quy tắc &amp; dữ liệu vận hành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959352"/>
            <a:ext cx="3474720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3959352"/>
            <a:ext cx="64008" cy="969264"/>
          </a:xfrm>
          <a:prstGeom prst="rect">
            <a:avLst/>
          </a:prstGeom>
          <a:solidFill>
            <a:srgbClr val="188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4087368"/>
            <a:ext cx="3108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88F86"/>
                </a:solidFill>
                <a:latin typeface="Aptos"/>
              </a:rPr>
              <a:t>KÊNH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4334256"/>
            <a:ext cx="30906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42235"/>
                </a:solidFill>
                <a:latin typeface="Aptos"/>
              </a:rPr>
              <a:t>Bán hàng trực tiếp B2B
Demo tại bệnh viện
Hội nghị / hội chuyên môn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3959352"/>
            <a:ext cx="3474720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0" y="3959352"/>
            <a:ext cx="64008" cy="969264"/>
          </a:xfrm>
          <a:prstGeom prst="rect">
            <a:avLst/>
          </a:prstGeom>
          <a:solidFill>
            <a:srgbClr val="D89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087368"/>
            <a:ext cx="3108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D89E2A"/>
                </a:solidFill>
                <a:latin typeface="Aptos"/>
              </a:rPr>
              <a:t>DOANH THU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334256"/>
            <a:ext cx="30906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42235"/>
                </a:solidFill>
                <a:latin typeface="Aptos"/>
              </a:rPr>
              <a:t>Thuê bao theo cơ sở/mạng lưới
Phí triển khai &amp; tích hợp
BB-Box / bảo trì tùy chọn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9" y="3959352"/>
            <a:ext cx="3474720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59" y="3959352"/>
            <a:ext cx="64008" cy="969264"/>
          </a:xfrm>
          <a:prstGeom prst="rect">
            <a:avLst/>
          </a:prstGeom>
          <a:solidFill>
            <a:srgbClr val="397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39" y="4087368"/>
            <a:ext cx="3108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979B8"/>
                </a:solidFill>
                <a:latin typeface="Aptos"/>
              </a:rPr>
              <a:t>CẤU TRÚC CHI PHÍ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39" y="4334256"/>
            <a:ext cx="309067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42235"/>
                </a:solidFill>
                <a:latin typeface="Aptos"/>
              </a:rPr>
              <a:t>Kỹ thuật &amp; bảo mật
Tích hợp / hỗ trợ pilot
Thiết bị, cố vấn, bán hàng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138928"/>
            <a:ext cx="10844784" cy="393192"/>
          </a:xfrm>
          <a:prstGeom prst="roundRect">
            <a:avLst/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" y="5257800"/>
            <a:ext cx="104607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89E2A"/>
                </a:solidFill>
                <a:latin typeface="Aptos"/>
              </a:rPr>
              <a:t>GIẢ ĐỊNH GIÁ &amp; QUY MÔ CẦN KIỂM CHỨNG; không tính phí người hiến và không bán dữ liệu cá nhân.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74320"/>
            <a:ext cx="2286000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213969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09  •  MARKETING &amp; TRUYỀN THÔNG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235"/>
                </a:solidFill>
                <a:latin typeface="Aptos Display"/>
              </a:rPr>
              <a:t>Bán bằng độ tin cậy chuyên môn và bằng chứng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D"/>
                </a:solidFill>
                <a:latin typeface="Aptos"/>
              </a:rPr>
              <a:t>Kế hoạch truyền thông B2B y tế; không quảng cáo kết quả lâm sàng chưa được đo.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BLOODBLINK  •  GenD Arena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09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3657600" cy="1033271"/>
          </a:xfrm>
          <a:prstGeom prst="roundRect">
            <a:avLst/>
          </a:prstGeom>
          <a:solidFill>
            <a:srgbClr val="101C2D"/>
          </a:solidFill>
          <a:ln w="10160">
            <a:solidFill>
              <a:srgbClr val="10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20240"/>
            <a:ext cx="31821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8C8D8"/>
                </a:solidFill>
                <a:latin typeface="Aptos"/>
              </a:rPr>
              <a:t>THÔNG ĐIỆP CHÍNH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31136"/>
            <a:ext cx="31546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“Kho trước. Gọi đúng phần thiếu.”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37360"/>
            <a:ext cx="6949440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856232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B2B TRỰC TIẾP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1828800"/>
            <a:ext cx="4434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42235"/>
                </a:solidFill>
                <a:latin typeface="Aptos"/>
              </a:rPr>
              <a:t>Lãnh đạo bệnh viện, trung tâm máu, khoa truyền máu.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496312"/>
            <a:ext cx="6949440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615184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88F86"/>
                </a:solidFill>
                <a:latin typeface="Aptos"/>
              </a:rPr>
              <a:t>DEMO / HỘI CHUYÊN MÔN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2587752"/>
            <a:ext cx="4434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42235"/>
                </a:solidFill>
                <a:latin typeface="Aptos"/>
              </a:rPr>
              <a:t>Demo luồng offer và SOS; hội thảo chuyển đổi số y tế.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255264"/>
            <a:ext cx="6949440" cy="612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3374136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94B56"/>
                </a:solidFill>
                <a:latin typeface="Aptos"/>
              </a:rPr>
              <a:t>NỘI DUNG CÓ BẰNG CHỨNG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3346704"/>
            <a:ext cx="4434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42235"/>
                </a:solidFill>
                <a:latin typeface="Aptos"/>
              </a:rPr>
              <a:t>Case study sau pilot; chỉ công bố KPI đã được cơ sở duyệt.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251960"/>
            <a:ext cx="1645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NHỊP 12 THÁNG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72000"/>
            <a:ext cx="3401568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" y="4690872"/>
            <a:ext cx="731520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722876"/>
            <a:ext cx="5852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M1–3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690872"/>
            <a:ext cx="222199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42235"/>
                </a:solidFill>
                <a:latin typeface="Aptos"/>
              </a:rPr>
              <a:t>15 phỏng vấn mục tiêu
3 bệnh viện neo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572000"/>
            <a:ext cx="3401568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62855" y="4690872"/>
            <a:ext cx="731520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7" y="4722876"/>
            <a:ext cx="5852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M4–6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79" y="4690872"/>
            <a:ext cx="222199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42235"/>
                </a:solidFill>
                <a:latin typeface="Aptos"/>
              </a:rPr>
              <a:t>Demo kín + pilot 3 cơ sở
Đào tạo người dùng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4572000"/>
            <a:ext cx="3401568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11896" y="4690872"/>
            <a:ext cx="731520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4722876"/>
            <a:ext cx="5852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M7–12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19" y="4690872"/>
            <a:ext cx="222199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42235"/>
                </a:solidFill>
                <a:latin typeface="Aptos"/>
              </a:rPr>
              <a:t>Báo cáo pilot đã duyệt
Mở rộng mục tiêu 8 cơ sở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522976"/>
            <a:ext cx="10652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 i="1">
                <a:solidFill>
                  <a:srgbClr val="5B6B7D"/>
                </a:solidFill>
                <a:latin typeface="Aptos"/>
              </a:rPr>
              <a:t>KPI funnel: tổ chức đủ điều kiện → cuộc gặp → demo → pilot → gia hạn. Mọi kết quả mô phỏng phải được phân biệt với số liệu thực.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74320"/>
            <a:ext cx="2075688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9293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10  •  KẾ HOẠCH TÀI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235"/>
                </a:solidFill>
                <a:latin typeface="Aptos Display"/>
              </a:rPr>
              <a:t>Kịch bản 12 tháng: chi phí pilot lớn hơn doanh thu ban đầu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D"/>
                </a:solidFill>
                <a:latin typeface="Aptos"/>
              </a:rPr>
              <a:t>Giả định đề xuất — chưa có báo giá, hợp đồng hay doanh thu thực tế trong repository.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BLOODBLINK  •  GenD Arena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55648"/>
            <a:ext cx="512064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56816"/>
            <a:ext cx="2514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DOANH THU GIẢ ĐỊNH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50008"/>
            <a:ext cx="374903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2235"/>
                </a:solidFill>
                <a:latin typeface="Aptos"/>
              </a:rPr>
              <a:t>Thuê bao: 8 cơ sở × 6 tháng × 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13432"/>
            <a:ext cx="795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979B8"/>
                </a:solidFill>
                <a:latin typeface="Aptos"/>
              </a:rPr>
              <a:t>240M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06624"/>
            <a:ext cx="374903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2235"/>
                </a:solidFill>
                <a:latin typeface="Aptos"/>
              </a:rPr>
              <a:t>Triển khai: 8 × 15M / cơ sở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670048"/>
            <a:ext cx="795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979B8"/>
                </a:solidFill>
                <a:latin typeface="Aptos"/>
              </a:rPr>
              <a:t>120M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" y="3026664"/>
            <a:ext cx="4553712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6968" y="3227832"/>
            <a:ext cx="2907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3979B8"/>
                </a:solidFill>
                <a:latin typeface="Aptos"/>
              </a:rPr>
              <a:t>TỔNG DOANH THU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182112"/>
            <a:ext cx="10241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979B8"/>
                </a:solidFill>
                <a:latin typeface="Aptos"/>
              </a:rPr>
              <a:t>360M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11880"/>
            <a:ext cx="4572000" cy="32004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694176"/>
            <a:ext cx="43251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3979B8"/>
                </a:solidFill>
                <a:latin typeface="Aptos"/>
              </a:rPr>
              <a:t>MRR tại 8 cơ sở: 40M  •  ARR run-rate: 480M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25312" y="1755648"/>
            <a:ext cx="5614416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956816"/>
            <a:ext cx="23317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94B56"/>
                </a:solidFill>
                <a:latin typeface="Aptos"/>
              </a:rPr>
              <a:t>CHI PHÍ 12 THÁNG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322576"/>
            <a:ext cx="3767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Sản phẩm &amp; kỹ thuật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32257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42235"/>
                </a:solidFill>
                <a:latin typeface="Aptos"/>
              </a:rPr>
              <a:t>480M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546604"/>
            <a:ext cx="3767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Tích hợp / triển khai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546604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42235"/>
                </a:solidFill>
                <a:latin typeface="Aptos"/>
              </a:rPr>
              <a:t>120M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2770632"/>
            <a:ext cx="3767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Cloud, bảo mật, vận hành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2770632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42235"/>
                </a:solidFill>
                <a:latin typeface="Aptos"/>
              </a:rPr>
              <a:t>96M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2994660"/>
            <a:ext cx="3767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8 thiết bị 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2994660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42235"/>
                </a:solidFill>
                <a:latin typeface="Aptos"/>
              </a:rPr>
              <a:t>32M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3218688"/>
            <a:ext cx="3767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Marketing, đào tạo, đi lại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3218688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42235"/>
                </a:solidFill>
                <a:latin typeface="Aptos"/>
              </a:rPr>
              <a:t>96M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3442716"/>
            <a:ext cx="3767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Cố vấn lâm sàng / pháp lý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344271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42235"/>
                </a:solidFill>
                <a:latin typeface="Aptos"/>
              </a:rPr>
              <a:t>48M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3666744"/>
            <a:ext cx="3767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Dự phòng 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3666744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42235"/>
                </a:solidFill>
                <a:latin typeface="Aptos"/>
              </a:rPr>
              <a:t>87M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370832"/>
            <a:ext cx="10881360" cy="621792"/>
          </a:xfrm>
          <a:prstGeom prst="round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4572000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8C8D8"/>
                </a:solidFill>
                <a:latin typeface="Aptos"/>
              </a:rPr>
              <a:t>LỖ DỰ KIẾN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58568" y="4498848"/>
            <a:ext cx="12801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~599M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42232" y="4572000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C8CA"/>
                </a:solidFill>
                <a:latin typeface="Aptos"/>
              </a:rPr>
              <a:t>ĐỀ NGHỊ VỐN / GRANT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498848"/>
            <a:ext cx="11704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C8CA"/>
                </a:solidFill>
                <a:latin typeface="Aptos"/>
              </a:rPr>
              <a:t>800M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0375" y="4544568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~600M gap + ~200M vốn lưu động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" y="5230368"/>
            <a:ext cx="10561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 i="1">
                <a:solidFill>
                  <a:srgbClr val="5B6B7D"/>
                </a:solidFill>
                <a:latin typeface="Aptos"/>
              </a:rPr>
              <a:t>Năm pilot chưa hòa vốn. Giá, chi phí và chu kỳ mua sắm phải xác nhận bằng báo giá / cam kết thực.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74320"/>
            <a:ext cx="1905609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75930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11  •  ROADMAP &amp;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235"/>
                </a:solidFill>
                <a:latin typeface="Aptos Display"/>
              </a:rPr>
              <a:t>Mở rộng theo bằng chứng; pivot theo tín hiệu người mua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D"/>
                </a:solidFill>
                <a:latin typeface="Aptos"/>
              </a:rPr>
              <a:t>Các mốc là kế hoạch đề xuất, không phải lịch sử triển khai đã hoàn thành.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BLOODBLINK  •  GenD Arena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3383280" cy="12435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" y="1892808"/>
            <a:ext cx="1261872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24812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0–3 THÁNG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295144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235"/>
                </a:solidFill>
                <a:latin typeface="Aptos"/>
              </a:rPr>
              <a:t>CHUẨN BỊ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56032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B6B7D"/>
                </a:solidFill>
                <a:latin typeface="Aptos"/>
              </a:rPr>
              <a:t>3 bệnh viện neo
Cố vấn truyền máu
Rà soát dữ liệu / bảo mật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737360"/>
            <a:ext cx="3383280" cy="12435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44568" y="1892808"/>
            <a:ext cx="1261872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924812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4–6 THÁNG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295144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235"/>
                </a:solidFill>
                <a:latin typeface="Aptos"/>
              </a:rPr>
              <a:t>MVP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56032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B6B7D"/>
                </a:solidFill>
                <a:latin typeface="Aptos"/>
              </a:rPr>
              <a:t>Chạy 3 cơ sở
Đo baseline + KPI
Hiệu chuẩn BB-Box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737360"/>
            <a:ext cx="3383280" cy="12435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75320" y="1892808"/>
            <a:ext cx="1261872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1924812"/>
            <a:ext cx="11155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7–12 THÁNG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295144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235"/>
                </a:solidFill>
                <a:latin typeface="Aptos"/>
              </a:rPr>
              <a:t>MỞ RỘNG CÓ ĐIỀU KIỆN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560320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B6B7D"/>
                </a:solidFill>
                <a:latin typeface="Aptos"/>
              </a:rPr>
              <a:t>Tối đa 8 cơ sở
Đánh giá gia hạn
Báo cáo tác động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91840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89E2A"/>
                </a:solidFill>
                <a:latin typeface="Aptos"/>
              </a:rPr>
              <a:t>PIVOT GATES — ĐỀ XUẤT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3602736"/>
            <a:ext cx="10780776" cy="493776"/>
          </a:xfrm>
          <a:prstGeom prst="roundRect">
            <a:avLst/>
          </a:prstGeom>
          <a:solidFill>
            <a:srgbClr val="FFF4D8"/>
          </a:solidFill>
          <a:ln w="10160">
            <a:solidFill>
              <a:srgbClr val="FFF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694176"/>
            <a:ext cx="2615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D89E2A"/>
                </a:solidFill>
                <a:latin typeface="Aptos"/>
              </a:rPr>
              <a:t>DỮ LIỆU / INTEGRATION CHẬM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675888"/>
            <a:ext cx="7589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Nếu ≤1/3 cơ sở pilot chia sẻ được dữ liệu tối thiểu: thu hẹp MVP về inventory + offer; hoãn SOS/IoT.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" y="4215384"/>
            <a:ext cx="10780776" cy="493776"/>
          </a:xfrm>
          <a:prstGeom prst="roundRect">
            <a:avLst/>
          </a:prstGeom>
          <a:solidFill>
            <a:srgbClr val="FFF4D8"/>
          </a:solidFill>
          <a:ln w="10160">
            <a:solidFill>
              <a:srgbClr val="FFF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306824"/>
            <a:ext cx="2615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D89E2A"/>
                </a:solidFill>
                <a:latin typeface="Aptos"/>
              </a:rPr>
              <a:t>NGƯỜI MUA TẬP TRUNG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288536"/>
            <a:ext cx="7589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Nếu một hệ thống quyết định cho nhiều cơ sở: pivot từ thuê bao từng cơ sở sang license mạng lưới.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4828032"/>
            <a:ext cx="10780776" cy="493776"/>
          </a:xfrm>
          <a:prstGeom prst="roundRect">
            <a:avLst/>
          </a:prstGeom>
          <a:solidFill>
            <a:srgbClr val="FFF4D8"/>
          </a:solidFill>
          <a:ln w="10160">
            <a:solidFill>
              <a:srgbClr val="FFF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919472"/>
            <a:ext cx="2615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D89E2A"/>
                </a:solidFill>
                <a:latin typeface="Aptos"/>
              </a:rPr>
              <a:t>KHÔNG CÓ WILLINGNESS-TO-PAY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901184"/>
            <a:ext cx="7589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42235"/>
                </a:solidFill>
                <a:latin typeface="Aptos"/>
              </a:rPr>
              <a:t>Nếu pilot không có gia hạn trả phí: kiểm tra buyer/funding model trước khi mở rộng đội ngũ.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5504688"/>
            <a:ext cx="10543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 i="1">
                <a:solidFill>
                  <a:srgbClr val="5B6B7D"/>
                </a:solidFill>
                <a:latin typeface="Aptos"/>
              </a:rPr>
              <a:t>Pivot là thay đổi phạm vi / kênh / mô hình doanh thu dựa trên dữ liệu pilot — không đổi quy tắc an toàn truyền máu.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74320"/>
            <a:ext cx="1905609" cy="27432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3" y="306323"/>
            <a:ext cx="175930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12  •  TEAM / 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94944"/>
            <a:ext cx="11109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235"/>
                </a:solidFill>
                <a:latin typeface="Aptos Display"/>
              </a:rPr>
              <a:t>Đã có prototype kỹ thuật; cần đúng đối tác để pilot an toàn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D"/>
                </a:solidFill>
                <a:latin typeface="Aptos"/>
              </a:rPr>
              <a:t>Không nêu tên cá nhân; tập trung vào năng lực triển khai cần có cho giai đoạn tiếp theo.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0352" y="6473952"/>
            <a:ext cx="11128248" cy="0"/>
          </a:xfrm>
          <a:prstGeom prst="line">
            <a:avLst/>
          </a:prstGeom>
          <a:ln w="10160">
            <a:solidFill>
              <a:srgbClr val="DC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28816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BLOODBLINK  •  GenD Arena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7680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B7D"/>
                </a:solidFill>
                <a:latin typeface="Aptos"/>
              </a:rPr>
              <a:t>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73936"/>
            <a:ext cx="5303520" cy="1115568"/>
          </a:xfrm>
          <a:prstGeom prst="roundRect">
            <a:avLst/>
          </a:prstGeom>
          <a:solidFill>
            <a:srgbClr val="EAF2FA"/>
          </a:solidFill>
          <a:ln w="10160">
            <a:solidFill>
              <a:srgbClr val="EA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75104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979B8"/>
                </a:solidFill>
                <a:latin typeface="Aptos"/>
              </a:rPr>
              <a:t>NĂNG LỰC ĐÃ THỂ HIỆN QUA SẢN PHẨM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22576"/>
            <a:ext cx="4709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235"/>
                </a:solidFill>
                <a:latin typeface="Aptos"/>
              </a:rPr>
              <a:t>Web + backend • donor app • embedded IoT • simulation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73936"/>
            <a:ext cx="5303520" cy="1115568"/>
          </a:xfrm>
          <a:prstGeom prst="roundRect">
            <a:avLst/>
          </a:prstGeom>
          <a:solidFill>
            <a:srgbClr val="E3F5F2"/>
          </a:solidFill>
          <a:ln w="10160">
            <a:solidFill>
              <a:srgbClr val="E3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975104"/>
            <a:ext cx="4736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88F86"/>
                </a:solidFill>
                <a:latin typeface="Aptos"/>
              </a:rPr>
              <a:t>NĂNG LỰC CẦN ĐỒNG HÀNH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322576"/>
            <a:ext cx="4709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235"/>
                </a:solidFill>
                <a:latin typeface="Aptos"/>
              </a:rPr>
              <a:t>Chuyên gia truyền máu • vận hành bệnh viện • bảo mật dữ liệu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91840"/>
            <a:ext cx="10863072" cy="1627632"/>
          </a:xfrm>
          <a:prstGeom prst="roundRect">
            <a:avLst/>
          </a:prstGeom>
          <a:solidFill>
            <a:srgbClr val="10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52958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8C8D8"/>
                </a:solidFill>
                <a:latin typeface="Aptos"/>
              </a:rPr>
              <a:t>ĐỀ NGHỊ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849624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3 bệnh viện pilot  +  cố vấn chuyên môn  +  800M vốn / grant cho 12 tháng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453128"/>
            <a:ext cx="10149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8CA"/>
                </a:solidFill>
                <a:latin typeface="Aptos"/>
              </a:rPr>
              <a:t>Kho trước. Gọi đúng phần thiếu. Đo trước khi mở rộng.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276088"/>
            <a:ext cx="10561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D"/>
                </a:solidFill>
                <a:latin typeface="Aptos"/>
              </a:rPr>
              <a:t>BLOODBLINK  |  GenD Arena 2026  |  Nhiệm vụ 1: Pitch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BLOODBLINK — GenD Arena 2026 Pitch Deck (12 nội dung bắt buộc)</dc:title>
  <dc:subject>Nhiệm vụ 1 — Pitch Deck</dc:subject>
  <dc:creator>BLOODBLINK project</dc:creator>
  <cp:keywords>BloodBlink, MVP, blood coordination, GenD Arena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